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Space Grotesk"/>
      <ns0:bold ns1:id="rIdFont16"/>
      <ns0:regular ns1:id="rIdFont17"/>
    </ns0:embeddedFon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a4085fe4-3fb4-4d73-b071-89d3e79f1359.fntdata" /><ns0:Relationship Id="rIdFont17" Type="http://schemas.openxmlformats.org/officeDocument/2006/relationships/font" Target="fonts/f10c031a-9514-4347-8334-5859e4cf6978.fntdata" /><ns0:Relationship Id="rIdFont18" Type="http://schemas.openxmlformats.org/officeDocument/2006/relationships/font" Target="fonts/a2fe107c-fb71-4a42-9351-455202ae6577.fntdata" /><ns0:Relationship Id="rIdFont19" Type="http://schemas.openxmlformats.org/officeDocument/2006/relationships/font" Target="fonts/7f40bc0c-ed30-4feb-8a52-2937ba49d6e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86400"/>
            <a:ext cx="10820400" cy="838200"/>
          </a:xfrm>
          <a:prstGeom prst="roundRect">
            <a:avLst>
              <a:gd name="adj" fmla="val 11363"/>
            </a:avLst>
          </a:prstGeom>
          <a:solidFill>
            <a:srgbClr val="0A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00552" y="1866900"/>
            <a:ext cx="4705647" cy="2790825"/>
          </a:xfrm>
          <a:prstGeom prst="roundRect">
            <a:avLst>
              <a:gd name="adj" fmla="val 5460"/>
            </a:avLst>
          </a:prstGeom>
          <a:solidFill>
            <a:srgbClr val="0A14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1375" y="5629275"/>
            <a:ext cx="9525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19800" y="5629275"/>
            <a:ext cx="9525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58225" y="5629275"/>
            <a:ext cx="9525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4350" y="581025"/>
            <a:ext cx="1771650" cy="247650"/>
          </a:xfrm>
          <a:prstGeom prst="roundRect">
            <a:avLst>
              <a:gd name="adj" fmla="val 15384"/>
            </a:avLst>
          </a:prstGeom>
          <a:solidFill>
            <a:srgbClr val="431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581025"/>
            <a:ext cx="1447800" cy="247650"/>
          </a:xfrm>
          <a:prstGeom prst="roundRect">
            <a:avLst>
              <a:gd name="adj" fmla="val 15384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577" y="4162425"/>
            <a:ext cx="4305597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4039046"/>
            <a:ext cx="2352675" cy="304800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33725" y="4039046"/>
            <a:ext cx="2495550" cy="304800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577" y="4162425"/>
            <a:ext cx="43055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19125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577" y="2066925"/>
            <a:ext cx="4305597" cy="2095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577" y="4314825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838" y="4314825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5575" y="4314825"/>
            <a:ext cx="1524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4134296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4134296"/>
            <a:ext cx="15240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5825" y="5629275"/>
            <a:ext cx="2486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EF4444"/>
                </a:solidFill>
                <a:latin typeface="Plus Jakarta Sans"/>
              </a:rPr>
              <a:t>SPEAKER 1 • SLIDES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4250" y="5629275"/>
            <a:ext cx="2486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2 • SLIDES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2675" y="5629275"/>
            <a:ext cx="24860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97706"/>
                </a:solidFill>
                <a:latin typeface="Plus Jakarta Sans"/>
              </a:rPr>
              <a:t>SPEAKER 3 • SLIDES 6–7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5629275"/>
            <a:ext cx="26003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0B981"/>
                </a:solidFill>
                <a:latin typeface="Plus Jakarta Sans"/>
              </a:rPr>
              <a:t>SPEAKER 4 • SLIDES 8–9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14362"/>
            <a:ext cx="3571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Space Grotesk"/>
              </a:rPr>
              <a:t>MISSION-CRITICAL DAA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8650" y="619125"/>
            <a:ext cx="1638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97316"/>
                </a:solidFill>
                <a:latin typeface="Space Grotesk"/>
              </a:rPr>
              <a:t>LIVE TELEMETRY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2700" y="619125"/>
            <a:ext cx="1314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GRAPH ENGINE v2.4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237928"/>
            <a:ext cx="7525549" cy="6200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b="1" sz="4650" i="0" u="none">
                <a:solidFill>
                  <a:srgbClr val="FFFFFF"/>
                </a:solidFill>
                <a:latin typeface="Space Grotesk"/>
              </a:rPr>
              <a:t>SAFE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010346"/>
            <a:ext cx="5429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Algorithm-driven emergency route optimization and capacity-aware shelter assignment under dynamic network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5848350"/>
            <a:ext cx="2976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G PANNAGESH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6029325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Space Grotesk"/>
              </a:rPr>
              <a:t>Problem &amp; Objectives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4250" y="5848350"/>
            <a:ext cx="2976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TEAM MEMBER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4250" y="6029325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Space Grotesk"/>
              </a:rPr>
              <a:t>Architecture &amp; DAA 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2675" y="5848350"/>
            <a:ext cx="2976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TEAM MEMBER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2675" y="6029325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Space Grotesk"/>
              </a:rPr>
              <a:t>Capacity &amp; Dynamic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1100" y="5848350"/>
            <a:ext cx="3131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TEAM MEMBER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1100" y="6029325"/>
            <a:ext cx="3131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Space Grotesk"/>
              </a:rPr>
              <a:t>Demo, Results &amp; 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1952178"/>
            <a:ext cx="317301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DISASTER EVACUATION PLANNER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0577" y="4286250"/>
            <a:ext cx="1285875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7171"/>
                </a:solidFill>
                <a:latin typeface="Plus Jakarta Sans"/>
              </a:rPr>
              <a:t>Danger Zone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2838" y="4286250"/>
            <a:ext cx="1276350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ACC15"/>
                </a:solidFill>
                <a:latin typeface="Plus Jakarta Sans"/>
              </a:rPr>
              <a:t>Optimal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5575" y="4286250"/>
            <a:ext cx="1276350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DE80"/>
                </a:solidFill>
                <a:latin typeface="Plus Jakarta Sans"/>
              </a:rPr>
              <a:t>Safe Shelter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4105721"/>
            <a:ext cx="2583656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BFS • Dijkstra • Priority Queue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6600" y="4105721"/>
            <a:ext cx="2762250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Python • Flask • React • Leaflet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38850"/>
            <a:ext cx="10972800" cy="361950"/>
          </a:xfrm>
          <a:prstGeom prst="roundRect">
            <a:avLst>
              <a:gd name="adj" fmla="val 2105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1553" y="1457325"/>
            <a:ext cx="5340846" cy="4352925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91400" y="866775"/>
            <a:ext cx="1476375" cy="209550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457325"/>
            <a:ext cx="5327153" cy="1704975"/>
          </a:xfrm>
          <a:prstGeom prst="roundRect">
            <a:avLst>
              <a:gd name="adj" fmla="val 55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06366"/>
            <a:ext cx="5327153" cy="1303883"/>
          </a:xfrm>
          <a:prstGeom prst="roundRect">
            <a:avLst>
              <a:gd name="adj" fmla="val 73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52775"/>
            <a:ext cx="5327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457325"/>
            <a:ext cx="5327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457325"/>
            <a:ext cx="38100" cy="17049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228" y="1457325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678" y="366712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78" y="417195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78" y="4676775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678" y="5181600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353" y="3733800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353" y="4238625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7303" y="4743450"/>
            <a:ext cx="1714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6353" y="5248275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100" y="6134100"/>
            <a:ext cx="7655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Target Goal: 0% Shelter Overflow • Sub-second Graph Recomputation • 100% Group Evacuation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850" y="6138862"/>
            <a:ext cx="1928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Space Grotesk"/>
              </a:rPr>
              <a:t>DAA 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652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01 • CHALLENGE &amp;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66750"/>
            <a:ext cx="685085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The Disaster Evacuation Dilemma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6650" y="895350"/>
            <a:ext cx="1381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Space Grotesk"/>
              </a:rPr>
              <a:t>SPEAKER 1: PANNAGESH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2075" y="885825"/>
            <a:ext cx="3209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Dynamic Bottlenecks vs. Real-Time Lives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678" y="1695450"/>
            <a:ext cx="571232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657350"/>
            <a:ext cx="61231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CRITICAL ROADBLOCKS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696866"/>
            <a:ext cx="608744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97316"/>
                </a:solidFill>
                <a:latin typeface="Plus Jakarta Sans"/>
              </a:rPr>
              <a:t>CORE RESEARCH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925466"/>
            <a:ext cx="4965203" cy="694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"How can we dynamically route evacuees across degraded networks while balancing road costs, emergency triage, and shelter capacity?"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1933575"/>
            <a:ext cx="61231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Road Failures: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Flood and fire block routes dynamically.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209800"/>
            <a:ext cx="61231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Heterogeneous Costs: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Terrain and congestion delay transit.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486025"/>
            <a:ext cx="61231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Shelter Limits: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Fixed refuge capacity causes severe bottlenecks.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762250"/>
            <a:ext cx="61231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Priority Asymmetry: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Critical zones require prioritized triage.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0678" y="3667125"/>
            <a:ext cx="4119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Dynamic Shortest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0678" y="3886200"/>
            <a:ext cx="4119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Find least-cost viable routes bypassing blocked links.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0678" y="4171950"/>
            <a:ext cx="4321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Triage-Based Priority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0678" y="4391025"/>
            <a:ext cx="4321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Process critical casualty nodes before standard groups.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0678" y="4676775"/>
            <a:ext cx="440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Capacity-Constrained 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0678" y="4895850"/>
            <a:ext cx="4405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Prevent shelter overflow via real-time quota reallocation.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0678" y="5181600"/>
            <a:ext cx="4893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Algorithmic Benchmarking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0678" y="5400675"/>
            <a:ext cx="4893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Empirical trade-off study between BFS hops and Dijkstra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10972800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47975"/>
            <a:ext cx="3530649" cy="355282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847975"/>
            <a:ext cx="3530649" cy="355282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847975"/>
            <a:ext cx="3530649" cy="355282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3375" y="866775"/>
            <a:ext cx="78105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16249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2874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9498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123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42748" y="1619250"/>
            <a:ext cx="1539924" cy="838200"/>
          </a:xfrm>
          <a:prstGeom prst="roundRect">
            <a:avLst>
              <a:gd name="adj" fmla="val 90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25" y="5972175"/>
            <a:ext cx="3130599" cy="228600"/>
          </a:xfrm>
          <a:prstGeom prst="roundRect">
            <a:avLst>
              <a:gd name="adj" fmla="val 1666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30774" y="5972175"/>
            <a:ext cx="3130599" cy="228600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1924" y="5972175"/>
            <a:ext cx="3130599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46137" y="1733550"/>
            <a:ext cx="666750" cy="209550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43237" y="1733550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5099" y="1733550"/>
            <a:ext cx="695325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51724" y="1733550"/>
            <a:ext cx="695325" cy="209550"/>
          </a:xfrm>
          <a:prstGeom prst="roundRect">
            <a:avLst>
              <a:gd name="adj" fmla="val 1818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348" y="1733550"/>
            <a:ext cx="695325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64973" y="1733550"/>
            <a:ext cx="695325" cy="20955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49" y="1971675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374" y="1971675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98" y="1971675"/>
            <a:ext cx="11430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623" y="1971675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248" y="1971675"/>
            <a:ext cx="1143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048000"/>
            <a:ext cx="342900" cy="3429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3048000"/>
            <a:ext cx="342900" cy="342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3048000"/>
            <a:ext cx="342900" cy="3429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" y="3133725"/>
            <a:ext cx="2190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3133725"/>
            <a:ext cx="1905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649" y="3133725"/>
            <a:ext cx="17145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600" y="457200"/>
            <a:ext cx="547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 • SYSTEM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66750"/>
            <a:ext cx="5750718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SafeRoute Solution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625" y="89535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SPEAKER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8725" y="885825"/>
            <a:ext cx="3343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DAA Mathematical Formulation &amp; Data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6010275"/>
            <a:ext cx="3073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G = (V, E, W)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6974" y="6010275"/>
            <a:ext cx="3073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O(log N) Priority Queue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8124" y="6010275"/>
            <a:ext cx="3073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Online Graph Adaptation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462" y="1752600"/>
            <a:ext cx="80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F4444"/>
                </a:solidFill>
                <a:latin typeface="Plus Jakarta Sans"/>
              </a:rPr>
              <a:t>STAGE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009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Disaster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009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Zones &amp; Hazards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6562" y="1752600"/>
            <a:ext cx="819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6634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Graph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6634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Adjacency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8424" y="1752600"/>
            <a:ext cx="828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STAGE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3258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Priority Heap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3258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Triage Sorting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5049" y="1752600"/>
            <a:ext cx="828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C3AED"/>
                </a:solidFill>
                <a:latin typeface="Plus Jakarta Sans"/>
              </a:rPr>
              <a:t>STAGE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9883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Routing 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9883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BFS / Dijkstra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1673" y="1752600"/>
            <a:ext cx="828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59669"/>
                </a:solidFill>
                <a:latin typeface="Plus Jakarta Sans"/>
              </a:rPr>
              <a:t>STAGE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86507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Capacity Filter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86507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Quota Balancing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8298" y="1752600"/>
            <a:ext cx="828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93132" y="1990725"/>
            <a:ext cx="163915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Leaflet UI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93132" y="2190750"/>
            <a:ext cx="16391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Active Dispatch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625" y="3505200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Weighted Graph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625" y="3781425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Roads represented as directed edges E with weights W(e) depicting length, road state, and flood hazard factors.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0774" y="3505200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Triage Priority Heap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30774" y="3781425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Evacuation groups sorted using a min-heap based on hazard proximity, demographic vulnerability, and urgency.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51924" y="3505200"/>
            <a:ext cx="3940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Dynamic Reallocation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1924" y="3781425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Immediate dynamic branch pruning when roads fail or shelters hit capacity ceiling, triggering instant re-computation.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6304" y="1419225"/>
            <a:ext cx="3766095" cy="4495800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67725" y="866775"/>
            <a:ext cx="78105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419225"/>
            <a:ext cx="6978104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348037"/>
            <a:ext cx="6978104" cy="74295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5191125"/>
            <a:ext cx="6978104" cy="723900"/>
          </a:xfrm>
          <a:prstGeom prst="roundRect">
            <a:avLst>
              <a:gd name="adj" fmla="val 131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6329" y="5362575"/>
            <a:ext cx="3366045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9242" y="1581150"/>
            <a:ext cx="5348436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1765" y="2707481"/>
            <a:ext cx="2333625" cy="18097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47875" y="3543300"/>
            <a:ext cx="5339804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490" y="4550568"/>
            <a:ext cx="2162175" cy="18097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8350" y="5376862"/>
            <a:ext cx="5358854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6329" y="2543175"/>
            <a:ext cx="3366045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329" y="3095625"/>
            <a:ext cx="3366045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6329" y="3648075"/>
            <a:ext cx="3366045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908" y="1633537"/>
            <a:ext cx="59055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9242" y="1581150"/>
            <a:ext cx="19050" cy="504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412" y="3519487"/>
            <a:ext cx="638175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47875" y="3543300"/>
            <a:ext cx="19050" cy="352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9650" y="5353050"/>
            <a:ext cx="628650" cy="20955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38350" y="5376862"/>
            <a:ext cx="19050" cy="3524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6329" y="2971800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6329" y="3524250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6329" y="4076700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229350"/>
            <a:ext cx="771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Decoupled front-to-back architecture ensures ultra-fast re-computations during simulation resets.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44150" y="6238875"/>
            <a:ext cx="1547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API LATENCY &lt; 25ms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457200"/>
            <a:ext cx="577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 • ARCHITECTURE &amp; TECH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66750"/>
            <a:ext cx="606325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Modular System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2975" y="89535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SPEAKER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075" y="885825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Full-Stack Integration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6329" y="1619250"/>
            <a:ext cx="4175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TECH STACK BREAKDOWN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5115" y="2726531"/>
            <a:ext cx="2162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RESTful JSON APIs (HTTP POST/GET)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0840" y="4569618"/>
            <a:ext cx="1990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In-Memory Adjacency Invocations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4636" y="5457825"/>
            <a:ext cx="396943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Space Grotesk"/>
              </a:rPr>
              <a:t>Stateless Execution • High Throughput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233" y="1662112"/>
            <a:ext cx="723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" y="1862137"/>
            <a:ext cx="132486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React 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9742" y="1581150"/>
            <a:ext cx="644742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Leaflet.js Interactive Geospatial Canvas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9742" y="1781175"/>
            <a:ext cx="525318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Live telemetry dashboard, real-time node color states, route animations, danger overlays.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737" y="3548062"/>
            <a:ext cx="771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59669"/>
                </a:solidFill>
                <a:latin typeface="Plus Jakarta Sans"/>
              </a:rPr>
              <a:t>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750" y="3748087"/>
            <a:ext cx="1333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Flask (Py)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38375" y="3543300"/>
            <a:ext cx="64366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Evacuation Orchestrator &amp; Graph Dispatcher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38375" y="3743325"/>
            <a:ext cx="643663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Route payload serialization, dynamic incident injections, capacity ledger validation.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2975" y="538162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" y="5581650"/>
            <a:ext cx="1333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DAA 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28850" y="5376862"/>
            <a:ext cx="646044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BFS • Dijkstra's SPFA • Priority Min-Heap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28850" y="5576887"/>
            <a:ext cx="64604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Adjacency list traversal, dynamic weight alterations, real-time node pruning.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6329" y="2543175"/>
            <a:ext cx="4175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FRONTEND CLIENT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6329" y="2714625"/>
            <a:ext cx="4175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React.js • Leaflet GIS • TailwindCSS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6329" y="3095625"/>
            <a:ext cx="4175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BACKEND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6329" y="3267075"/>
            <a:ext cx="4175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Python 3.11 • Flask REST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6329" y="3648075"/>
            <a:ext cx="4175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DATA STRUCTURES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6329" y="3819525"/>
            <a:ext cx="41756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Adjacency List • Binary Heap • Queue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6329" y="4200525"/>
            <a:ext cx="41756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GEOSPATIAL SCENARIO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6329" y="4371975"/>
            <a:ext cx="346129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GeoJSON Coordinates • Dynamic Road Matrices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00750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3524250" cy="439102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24350" y="1419225"/>
            <a:ext cx="3543300" cy="439102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8150" y="1419225"/>
            <a:ext cx="3524250" cy="439102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2025" y="866775"/>
            <a:ext cx="78105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8675" y="5114925"/>
            <a:ext cx="30861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52950" y="5105400"/>
            <a:ext cx="30861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7225" y="5124450"/>
            <a:ext cx="30861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675" y="2752725"/>
            <a:ext cx="3086100" cy="938807"/>
          </a:xfrm>
          <a:prstGeom prst="roundRect">
            <a:avLst>
              <a:gd name="adj" fmla="val 81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675" y="5114925"/>
            <a:ext cx="3086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2950" y="2762250"/>
            <a:ext cx="3086100" cy="938807"/>
          </a:xfrm>
          <a:prstGeom prst="roundRect">
            <a:avLst>
              <a:gd name="adj" fmla="val 811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2950" y="5105400"/>
            <a:ext cx="3086100" cy="9525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7225" y="2752725"/>
            <a:ext cx="3086100" cy="938807"/>
          </a:xfrm>
          <a:prstGeom prst="roundRect">
            <a:avLst>
              <a:gd name="adj" fmla="val 81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7225" y="5124450"/>
            <a:ext cx="3086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675" y="1638300"/>
            <a:ext cx="1019175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52950" y="1647825"/>
            <a:ext cx="1047750" cy="209550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7225" y="1638300"/>
            <a:ext cx="1266825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6115050"/>
            <a:ext cx="978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BFS establishes topological connectivity; Dijkstra determines the optimal path; Priority Queue governs dispatch sequencing.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8375" y="6124575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ALGORITHMIC TRIFECTA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6953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 • DAA ALGORITHM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66750"/>
            <a:ext cx="730091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Algorithmic Foundations Compared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275" y="89535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SPEAKER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7375" y="88582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BFS vs. Dijkstra vs. Priority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1962150"/>
            <a:ext cx="40505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Breadth-First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2276475"/>
            <a:ext cx="3181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Explores graphs radially level by level using a FIFO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5238750"/>
            <a:ext cx="3857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EXECUTION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" y="5429250"/>
            <a:ext cx="3857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Space Grotesk"/>
              </a:rPr>
              <a:t>Source → [L1] A, B → [L2] C, D → Safe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2950" y="1971675"/>
            <a:ext cx="40505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Dijkstra's Shortest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2950" y="2286000"/>
            <a:ext cx="3181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Greedy exploration calculating exact minimum travel impedance.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2950" y="5229225"/>
            <a:ext cx="3857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EXECUTION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2950" y="5419725"/>
            <a:ext cx="3857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Space Grotesk"/>
              </a:rPr>
              <a:t>Pop Min → Relax Edge(u,v) → Update Heap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7225" y="1962150"/>
            <a:ext cx="39147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Triage Priority 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7225" y="2276475"/>
            <a:ext cx="3181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Disaster victim triage scheduler utilizing a min-heap structure.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7225" y="5248275"/>
            <a:ext cx="3857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CORE GUARANTEE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7225" y="5438775"/>
            <a:ext cx="3857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Zero starvation for high-casualty clusters.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" y="1666875"/>
            <a:ext cx="923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ALGORITHM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0425" y="1657350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O(V + 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975" y="2867025"/>
            <a:ext cx="357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Primary Use Cases: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8200" y="167640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ALGORITHM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4650" y="1666875"/>
            <a:ext cx="1200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O((V+E) log 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7250" y="2876550"/>
            <a:ext cx="357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Primary Use Cases: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2475" y="1666875"/>
            <a:ext cx="1171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DATA 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9400" y="1657350"/>
            <a:ext cx="1209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Heap: O(log 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1525" y="2867025"/>
            <a:ext cx="357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Triage Severity Ranking: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" y="3058477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4425" y="3057525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Minimum-hop path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" y="3231713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4425" y="3230760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Shelter reachability checks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" y="3404949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4425" y="3403996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Uniform cost exploration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2025" y="3068002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38700" y="3067050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E3A8A"/>
                </a:solidFill>
                <a:latin typeface="Plus Jakarta Sans"/>
              </a:rPr>
              <a:t>Weighted least-cost routing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2025" y="3241238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38700" y="3240285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E3A8A"/>
                </a:solidFill>
                <a:latin typeface="Plus Jakarta Sans"/>
              </a:rPr>
              <a:t>Hazard &amp; slope penalty factors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2025" y="3414474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3A8A"/>
                </a:solidFill>
                <a:latin typeface="Plus Jakarta Sans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8700" y="3413521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E3A8A"/>
                </a:solidFill>
                <a:latin typeface="Plus Jakarta Sans"/>
              </a:rPr>
              <a:t>Realistic travel time optimization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6300" y="3058477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62975" y="3057525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EF4444"/>
                </a:solidFill>
                <a:latin typeface="Plus Jakarta Sans"/>
              </a:rPr>
              <a:t>P1 Critical: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Medical &amp; Immediate Risk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96300" y="3231713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2975" y="3230760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0F172A"/>
                </a:solidFill>
                <a:latin typeface="Plus Jakarta Sans"/>
              </a:rPr>
              <a:t>P2 High: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Rapid Inundation Perimeters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6300" y="3404949"/>
            <a:ext cx="66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2975" y="3403996"/>
            <a:ext cx="3357562" cy="17323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0F172A"/>
                </a:solidFill>
                <a:latin typeface="Plus Jakarta Sans"/>
              </a:rPr>
              <a:t>P3/P4 Low: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Stable / Advisory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38850"/>
            <a:ext cx="10972800" cy="361950"/>
          </a:xfrm>
          <a:prstGeom prst="roundRect">
            <a:avLst>
              <a:gd name="adj" fmla="val 2105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5340846" cy="4429125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81950" y="866775"/>
            <a:ext cx="781050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5267325"/>
            <a:ext cx="4864596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5246" y="1419225"/>
            <a:ext cx="5327153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55246" y="2762250"/>
            <a:ext cx="5327153" cy="552450"/>
          </a:xfrm>
          <a:prstGeom prst="roundRect">
            <a:avLst>
              <a:gd name="adj" fmla="val 13793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55246" y="3467100"/>
            <a:ext cx="5327153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2447925"/>
            <a:ext cx="4864596" cy="5334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3076575"/>
            <a:ext cx="4864596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3590925"/>
            <a:ext cx="4864596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7725" y="4238625"/>
            <a:ext cx="4864596" cy="5334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271" y="2066925"/>
            <a:ext cx="4927103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246" y="3305175"/>
            <a:ext cx="5327153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246" y="2762250"/>
            <a:ext cx="5327153" cy="952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5246" y="2762250"/>
            <a:ext cx="38100" cy="552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2762250"/>
            <a:ext cx="9525" cy="5524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55271" y="4114800"/>
            <a:ext cx="4927103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1075" y="2600325"/>
            <a:ext cx="204638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1075" y="3171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0600" y="3752850"/>
            <a:ext cx="200322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1075" y="4391025"/>
            <a:ext cx="215205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20325" y="1681162"/>
            <a:ext cx="1162050" cy="2286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271" y="2066925"/>
            <a:ext cx="4040088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10800" y="3729037"/>
            <a:ext cx="1171575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55271" y="4114800"/>
            <a:ext cx="2956173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46" y="2952750"/>
            <a:ext cx="15240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0100" y="6134100"/>
            <a:ext cx="752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Dual-objective optimization: Minimizing transit time while respecting physical shelter hard bounds.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0700" y="6143625"/>
            <a:ext cx="247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GREEDY CAPACITATED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7200"/>
            <a:ext cx="6929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 • CAPACITY-AWARE DISPATCH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66750"/>
            <a:ext cx="727590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Shelter Capacity &amp; Allocation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89535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Space Grotesk"/>
              </a:rPr>
              <a:t>SPEAKER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7300" y="885825"/>
            <a:ext cx="3314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Constrained Multi-Destination 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1657350"/>
            <a:ext cx="608074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CAPACITY VALIDATION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5362575"/>
            <a:ext cx="584262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Prevents fatal stampedes and shelter overcrowding during crisis events.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2446" y="2886075"/>
            <a:ext cx="480327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Reroute Trigger:</a:t>
            </a:r>
            <a:r>
              <a:rPr b="0" sz="975" i="0" u="none">
                <a:solidFill>
                  <a:srgbClr val="92400E"/>
                </a:solidFill>
                <a:latin typeface="Plus Jakarta Sans"/>
              </a:rPr>
              <a:t> Evacuation Group 4 (25 people) exceeds Alpha's 18 remaining slots. System dynamically diverts to Shelter Beta!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2600325"/>
            <a:ext cx="4903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00013" y="2543175"/>
            <a:ext cx="437420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Extract Evacuees: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Priority Queue yields top emergency group (N individuals).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171825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975" y="3200400"/>
            <a:ext cx="5214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Candidate Search: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Evaluate k nearest shelters via Dijkstra distance.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752850"/>
            <a:ext cx="4860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5222" y="3695700"/>
            <a:ext cx="435947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Capacity Constraint Check:</a:t>
            </a:r>
            <a:r>
              <a:rPr b="0" sz="1050" i="0" u="none">
                <a:solidFill>
                  <a:srgbClr val="1E3A8A"/>
                </a:solidFill>
                <a:latin typeface="Plus Jakarta Sans"/>
              </a:rPr>
              <a:t> Assert (Current_Occupancy + N) ≤ Max_Capacity.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391025"/>
            <a:ext cx="50095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0580" y="4333875"/>
            <a:ext cx="43636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Branch Selection: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If Full, prune target and recurse to next optimal shelter.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5575" y="1719262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82% OCCUPIED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271" y="2257425"/>
            <a:ext cx="1114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Capacity: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6848" y="2257425"/>
            <a:ext cx="109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Occupied: 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39375" y="2257425"/>
            <a:ext cx="1428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Remaining Slots: 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6050" y="3767137"/>
            <a:ext cx="107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60% OCCUPIED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271" y="4305300"/>
            <a:ext cx="109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Capacity: 150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80610" y="4305300"/>
            <a:ext cx="1114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Occupied: 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5000" y="4305300"/>
            <a:ext cx="2321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Remaining Slots: 60 (Assigned)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271" y="1619250"/>
            <a:ext cx="3298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Shelter Alpha (Primary Metro Hall)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5271" y="1819275"/>
            <a:ext cx="3298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Distance: 2.4 km • Status: CRITICAL CAPACITY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271" y="3667125"/>
            <a:ext cx="3131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Shelter Beta (Secondary Stadium)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271" y="3867150"/>
            <a:ext cx="3131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Distance: 4.1 km • Status: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00750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4486275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77075" y="1419225"/>
            <a:ext cx="4505325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39100" y="866775"/>
            <a:ext cx="781050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5257800"/>
            <a:ext cx="4086225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43537" y="3414712"/>
            <a:ext cx="1285875" cy="247650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6625" y="5248275"/>
            <a:ext cx="4086225" cy="352425"/>
          </a:xfrm>
          <a:prstGeom prst="roundRect">
            <a:avLst>
              <a:gd name="adj" fmla="val 16216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1619250"/>
            <a:ext cx="1009650" cy="209550"/>
          </a:xfrm>
          <a:prstGeom prst="roundRect">
            <a:avLst>
              <a:gd name="adj" fmla="val 1818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6625" y="1628775"/>
            <a:ext cx="1066800" cy="209550"/>
          </a:xfrm>
          <a:prstGeom prst="roundRect">
            <a:avLst>
              <a:gd name="adj" fmla="val 1818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2824162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377666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2957512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657475"/>
            <a:ext cx="3857625" cy="1104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925" y="2667000"/>
            <a:ext cx="3857625" cy="1104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58425" y="6119812"/>
            <a:ext cx="1381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Space Grotesk"/>
              </a:rPr>
              <a:t>RECOMPUTE &lt; 8ms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676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06 • ONLINE TOPOLOGY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710088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Dynamic Blocked-Road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4350" y="895350"/>
            <a:ext cx="685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Space Grotesk"/>
              </a:rPr>
              <a:t>SPEAKER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4450" y="885825"/>
            <a:ext cx="3257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Real-Time Edge Pruning &amp; Recomputation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9003" y="3452812"/>
            <a:ext cx="145494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DC2626"/>
                </a:solidFill>
                <a:latin typeface="Plus Jakarta Sans"/>
              </a:rPr>
              <a:t>ROAD B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3975" y="4119562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Instant graph edge deletion weight → 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6124575"/>
            <a:ext cx="1559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97316"/>
                </a:solidFill>
                <a:latin typeface="Plus Jakarta Sans"/>
              </a:rPr>
              <a:t>WHAT-IF ENGINE: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8375" y="6115050"/>
            <a:ext cx="6548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Interactive toggle of blocked links, flash floods, shelter lockouts, and sudden surges.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1943100"/>
            <a:ext cx="536317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Original Shortest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238375"/>
            <a:ext cx="5107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Direct highway conduit prior to flood water breach.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5353050"/>
            <a:ext cx="4869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Space Grotesk"/>
              </a:rPr>
              <a:t>Path: Zone A → Road B → Road C → Shelter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6625" y="1952625"/>
            <a:ext cx="4905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Autonomous Bypass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6625" y="2247900"/>
            <a:ext cx="490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Dijkstra recalculates instantly across viable secondary grid.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1875" y="5343525"/>
            <a:ext cx="4810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2410C"/>
                </a:solidFill>
                <a:latin typeface="Space Grotesk"/>
              </a:rPr>
              <a:t>Path: Zone A → Road D → Road E → Shelter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" y="1647825"/>
            <a:ext cx="91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INITIAL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7650" y="1647825"/>
            <a:ext cx="11239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Cost: 14.2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1875" y="1657350"/>
            <a:ext cx="971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A580C"/>
                </a:solidFill>
                <a:latin typeface="Plus Jakarta Sans"/>
              </a:rPr>
              <a:t>RECOMPUTED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4650" y="1657350"/>
            <a:ext cx="11239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A580C"/>
                </a:solidFill>
                <a:latin typeface="Plus Jakarta Sans"/>
              </a:rPr>
              <a:t>Cost: 19.8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81000"/>
            <a:ext cx="111252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6219825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12950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2500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051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601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31151" y="952500"/>
            <a:ext cx="1727150" cy="714375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3400" y="1781175"/>
            <a:ext cx="7105352" cy="4438650"/>
          </a:xfrm>
          <a:prstGeom prst="roundRect">
            <a:avLst>
              <a:gd name="adj" fmla="val 2575"/>
            </a:avLst>
          </a:prstGeom>
          <a:solidFill>
            <a:srgbClr val="09121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29252" y="1781175"/>
            <a:ext cx="3829347" cy="4438650"/>
          </a:xfrm>
          <a:prstGeom prst="roundRect">
            <a:avLst>
              <a:gd name="adj" fmla="val 29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621982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7100" y="504825"/>
            <a:ext cx="790575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20375" y="504825"/>
            <a:ext cx="838200" cy="209550"/>
          </a:xfrm>
          <a:prstGeom prst="roundRect">
            <a:avLst>
              <a:gd name="adj" fmla="val 18181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5325" y="5829300"/>
            <a:ext cx="6781502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227" y="5514975"/>
            <a:ext cx="3467397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5325" y="5829300"/>
            <a:ext cx="67815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227" y="1981200"/>
            <a:ext cx="1238250" cy="200025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5325" y="1943100"/>
            <a:ext cx="1190625" cy="20002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62150" y="1943100"/>
            <a:ext cx="1285875" cy="200025"/>
          </a:xfrm>
          <a:prstGeom prst="roundRect">
            <a:avLst>
              <a:gd name="adj" fmla="val 19047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938462"/>
            <a:ext cx="6781502" cy="2095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5934075"/>
            <a:ext cx="1143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676" y="593407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552" y="5934075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378" y="5934075"/>
            <a:ext cx="1143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1990725"/>
            <a:ext cx="13335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8350" y="1990725"/>
            <a:ext cx="10477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" y="6324600"/>
            <a:ext cx="5881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Real-time Leaflet layer rerenders within a single animation frame upon node failure.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8325" y="6329362"/>
            <a:ext cx="2733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LIVE DISASTER TELEMETRY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" y="509587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SAFE ROUTE INCIDENT COMMAND 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2350" y="533400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Space Grotesk"/>
              </a:rPr>
              <a:t>SPEAKER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075" y="533400"/>
            <a:ext cx="2809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ACTIVE INCIDENT: FLOOD SECTOR-4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5625" y="533400"/>
            <a:ext cx="742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CODE 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287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TOTAL AFFECTED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287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250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1837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6A34A"/>
                </a:solidFill>
                <a:latin typeface="Plus Jakarta Sans"/>
              </a:rPr>
              <a:t>SAFELY EVACUATED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1837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6A34A"/>
                </a:solidFill>
                <a:latin typeface="Space Grotesk"/>
              </a:rPr>
              <a:t>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1388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DC2626"/>
                </a:solidFill>
                <a:latin typeface="Plus Jakarta Sans"/>
              </a:rPr>
              <a:t>IN TRANSIT /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1388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DC2626"/>
                </a:solidFill>
                <a:latin typeface="Space Grotesk"/>
              </a:rPr>
              <a:t>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0938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ACTIVE SHELTERS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10938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5 /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0489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D97706"/>
                </a:solidFill>
                <a:latin typeface="Plus Jakarta Sans"/>
              </a:rPr>
              <a:t>BLOCKED ROADS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0489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D97706"/>
                </a:solidFill>
                <a:latin typeface="Space Grotesk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0039" y="1076325"/>
            <a:ext cx="184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Plus Jakarta Sans"/>
              </a:rPr>
              <a:t>LIVE ROUTES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0039" y="1247775"/>
            <a:ext cx="184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Space Grotesk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9002" y="1966912"/>
            <a:ext cx="2059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Space Grotesk"/>
              </a:rPr>
              <a:t>Coords: 17.3850° N, 78.4867° 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5915025"/>
            <a:ext cx="1200150" cy="1428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87171"/>
                </a:solidFill>
                <a:latin typeface="Plus Jakarta Sans"/>
              </a:rPr>
              <a:t>Danger Origin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9676" y="5915025"/>
            <a:ext cx="1209675" cy="1428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EF4444"/>
                </a:solidFill>
                <a:latin typeface="Plus Jakarta Sans"/>
              </a:rPr>
              <a:t>Blocked Road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33552" y="5915025"/>
            <a:ext cx="1607343" cy="1428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ACC15"/>
                </a:solidFill>
                <a:latin typeface="Plus Jakarta Sans"/>
              </a:rPr>
              <a:t>Active Dijkstra Route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9378" y="5915025"/>
            <a:ext cx="1571625" cy="1428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Plus Jakarta Sans"/>
              </a:rPr>
              <a:t>Target Shelter (Beta)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6427" y="2009775"/>
            <a:ext cx="1181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ROUTE INSPECTOR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227" y="2238375"/>
            <a:ext cx="418177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Active Evacuation Order #104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5002" y="5619750"/>
            <a:ext cx="40723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HEAP SCHEDULER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5002" y="5781675"/>
            <a:ext cx="407230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Space Grotesk"/>
              </a:rPr>
              <a:t>Priority Queue → 14 Visited → Dispatched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525" y="1971675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Mapbox Streets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38350" y="1971675"/>
            <a:ext cx="1228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Plus Jakarta Sans"/>
              </a:rPr>
              <a:t>Flood Layer Active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10227" y="2562225"/>
            <a:ext cx="1390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Emergency Priority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6075" y="2562225"/>
            <a:ext cx="1257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Level 1 — Critical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0227" y="2857500"/>
            <a:ext cx="1162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Routing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06050" y="2857500"/>
            <a:ext cx="146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Dijkstra's Min-Cost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10227" y="3152775"/>
            <a:ext cx="1028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Source Zone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4150" y="3152775"/>
            <a:ext cx="1419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Zone A (Riverbank)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0227" y="3448050"/>
            <a:ext cx="962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Destination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77450" y="3448050"/>
            <a:ext cx="1750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Shelter Beta (Available)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10227" y="3743325"/>
            <a:ext cx="169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Total Route Impedance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9875" y="3743325"/>
            <a:ext cx="133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12.5 (Normalized)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10227" y="4038600"/>
            <a:ext cx="1295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Nodes Evaluated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34700" y="4038600"/>
            <a:ext cx="828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Space Grotesk"/>
              </a:rPr>
              <a:t>14 Nodes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388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09700"/>
            <a:ext cx="5334000" cy="4038600"/>
          </a:xfrm>
          <a:prstGeom prst="roundRect">
            <a:avLst>
              <a:gd name="adj" fmla="val 2830"/>
            </a:avLst>
          </a:prstGeom>
          <a:solidFill>
            <a:srgbClr val="0C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409700"/>
            <a:ext cx="5334000" cy="4038600"/>
          </a:xfrm>
          <a:prstGeom prst="roundRect">
            <a:avLst>
              <a:gd name="adj" fmla="val 2830"/>
            </a:avLst>
          </a:prstGeom>
          <a:solidFill>
            <a:srgbClr val="0C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20100" y="866775"/>
            <a:ext cx="790575" cy="209550"/>
          </a:xfrm>
          <a:prstGeom prst="roundRect">
            <a:avLst>
              <a:gd name="adj" fmla="val 18181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638675"/>
            <a:ext cx="4857750" cy="571500"/>
          </a:xfrm>
          <a:prstGeom prst="roundRect">
            <a:avLst>
              <a:gd name="adj" fmla="val 13333"/>
            </a:avLst>
          </a:prstGeom>
          <a:solidFill>
            <a:srgbClr val="13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6525" y="4848225"/>
            <a:ext cx="4857750" cy="361950"/>
          </a:xfrm>
          <a:prstGeom prst="roundRect">
            <a:avLst>
              <a:gd name="adj" fmla="val 21052"/>
            </a:avLst>
          </a:prstGeom>
          <a:solidFill>
            <a:srgbClr val="1E1B4B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4638675"/>
            <a:ext cx="28575" cy="571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038350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9555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6226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138487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414712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1962150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409825"/>
            <a:ext cx="1619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857500"/>
            <a:ext cx="1809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6572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07 • CONCLUSION &amp; HORIZONS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690086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Space Grotesk"/>
              </a:rPr>
              <a:t>Project Impact &amp; Future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5350" y="895350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Space Grotesk"/>
              </a:rPr>
              <a:t>SPEAKER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881062"/>
            <a:ext cx="2821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Plus Jakarta Sans"/>
              </a:rPr>
              <a:t>DAA Demonstration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5815012"/>
            <a:ext cx="6619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PROJECT MOTTO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5986462"/>
            <a:ext cx="6619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8BDF8"/>
                </a:solidFill>
                <a:latin typeface="Space Grotesk"/>
              </a:rPr>
              <a:t>"From Disaster to Safety — One Optimized Route at a Time."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0612" y="5800725"/>
            <a:ext cx="2595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F97316"/>
                </a:solidFill>
                <a:latin typeface="Plus Jakarta Sans"/>
              </a:rPr>
              <a:t>G PANNAGESH • 25MVCSMR0486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0612" y="5972175"/>
            <a:ext cx="2595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1647825"/>
            <a:ext cx="607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DEMONSTRATED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4752975"/>
            <a:ext cx="4619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Space Grotesk"/>
              </a:rPr>
              <a:t>DAA Takeaway: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Classical algorithms solve life-or-death urban logistical bottlenecks when unified systematically.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1647825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FUTURE EXPANSION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953000"/>
            <a:ext cx="5562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7D2FE"/>
                </a:solidFill>
                <a:latin typeface="Plus Jakarta Sans"/>
              </a:rPr>
              <a:t>Scalable to city-wide graphs with 100,000+ edge nodes using A* heuristics.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375" y="1933575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Dynamic least-cost evacuation routing under sub-second execution.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375" y="2390775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Priority-driven triage processing (Critical casualties dispatched first).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375" y="2847975"/>
            <a:ext cx="5726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Autonomous edge pruning upon simulated road collapse/flooding.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" y="3124200"/>
            <a:ext cx="4845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Zero-overflow guarantee via live shelter quota balancing.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" y="3400425"/>
            <a:ext cx="5060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Plus Jakarta Sans"/>
              </a:rPr>
              <a:t>Empirical BFS vs. Dijkstra trade-off visualization on live map.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4650" y="1933575"/>
            <a:ext cx="4262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Live Traffic &amp; GPS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4650" y="2133600"/>
            <a:ext cx="4262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Integrate OpenStreetMap and real-time congestion feeds.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2381250"/>
            <a:ext cx="4310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Predictive Flood Inundation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3700" y="2581275"/>
            <a:ext cx="431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Proactive evacuation before rivers breach levee thresholds.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2750" y="2828925"/>
            <a:ext cx="4310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First-Responder Dynamic Green-Corridors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2750" y="3028950"/>
            <a:ext cx="431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Ambulance priority preemption across city traffic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